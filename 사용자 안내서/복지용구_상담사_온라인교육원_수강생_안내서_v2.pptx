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75163A-7F79-4ACB-AB8A-8B0FFC7F4D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058245-A40B-445C-B575-4F6E973C6F0B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복지용구 상담사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33B8C9-8B23-43CB-B706-381A6FD7201B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72390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9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온라인 교육원</a:t>
            </a:r>
          </a:p>
          <a:p>
            <a:pPr algn="l">
              <a:defRPr sz="39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수강생 안내서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85A581-C9D8-4CDE-AA0C-30CF7AAC17E7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667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로그인부터 강의 수강, 시험 제출까지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73B2ECA-6CEF-4CFE-9074-53C4E633CE93}"/>
              </a:ext>
            </a:extLst>
          </p:cNvPr>
          <p:cNvSpPr>
            <a:spLocks noGrp="1"/>
          </p:cNvSpPr>
          <p:nvPr/>
        </p:nvSpPr>
        <p:spPr>
          <a:xfrm>
            <a:off x="8477250" y="1143000"/>
            <a:ext cx="2362200" cy="3619500"/>
          </a:xfrm>
          <a:prstGeom prst="roundRect">
            <a:avLst>
              <a:gd name="adj" fmla="val 3226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DA6BAF-7BDD-4A84-8696-79F34B8D5C1C}"/>
              </a:ext>
            </a:extLst>
          </p:cNvPr>
          <p:cNvSpPr>
            <a:spLocks noGrp="1"/>
          </p:cNvSpPr>
          <p:nvPr/>
        </p:nvSpPr>
        <p:spPr>
          <a:xfrm>
            <a:off x="8705850" y="1381125"/>
            <a:ext cx="19050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C7DD2E-AE74-44A0-B68F-810C9CAB3F62}"/>
              </a:ext>
            </a:extLst>
          </p:cNvPr>
          <p:cNvSpPr>
            <a:spLocks noGrp="1"/>
          </p:cNvSpPr>
          <p:nvPr/>
        </p:nvSpPr>
        <p:spPr>
          <a:xfrm>
            <a:off x="8705850" y="2781300"/>
            <a:ext cx="1905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이수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D0C8AE-B26A-4047-9011-FBAAEDF86CA2}"/>
              </a:ext>
            </a:extLst>
          </p:cNvPr>
          <p:cNvSpPr>
            <a:spLocks noGrp="1"/>
          </p:cNvSpPr>
          <p:nvPr/>
        </p:nvSpPr>
        <p:spPr>
          <a:xfrm>
            <a:off x="8905875" y="3476625"/>
            <a:ext cx="1504950" cy="19050"/>
          </a:xfrm>
          <a:prstGeom prst="rect">
            <a:avLst/>
          </a:prstGeom>
          <a:solidFill>
            <a:srgbClr val="DDEDE6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F80F7A-92B5-4728-B36D-6B9041274567}"/>
              </a:ext>
            </a:extLst>
          </p:cNvPr>
          <p:cNvSpPr>
            <a:spLocks noGrp="1"/>
          </p:cNvSpPr>
          <p:nvPr/>
        </p:nvSpPr>
        <p:spPr>
          <a:xfrm>
            <a:off x="8705850" y="3714750"/>
            <a:ext cx="1905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시험 60분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EC90FE-81B9-45F9-90E9-30B0EE7572B2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교육 문의  055-320-3799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15976D-3EBD-40A6-A4E5-1FBFD2E782F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0C471-277F-4844-8E9A-6599E6E35AB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7018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C7C4E1-DBCD-4C2E-B72A-49CB32F8587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A8001F-A23D-4DA7-AFC8-96CB4AB7212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수강생 로그인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695FFA-0BC9-43BC-BB14-34B9939716A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등록된 학번, 이름, 생년월일 6자리를 입력합니다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38709B-4024-4251-895D-6A4AB292EDD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905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F78FD0-E4A0-4D3D-A29E-A26D1D06FE2D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7709B9-0914-4B48-929B-F3214CBC0027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450B35-30F3-4930-91D3-46E2AAE1ED3C}"/>
              </a:ext>
            </a:extLst>
          </p:cNvPr>
          <p:cNvSpPr>
            <a:spLocks noGrp="1"/>
          </p:cNvSpPr>
          <p:nvPr/>
        </p:nvSpPr>
        <p:spPr>
          <a:xfrm>
            <a:off x="1352550" y="23812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학번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0F7C77-B3C7-419B-AA7B-BB1822A73EA2}"/>
              </a:ext>
            </a:extLst>
          </p:cNvPr>
          <p:cNvSpPr>
            <a:spLocks noGrp="1"/>
          </p:cNvSpPr>
          <p:nvPr/>
        </p:nvSpPr>
        <p:spPr>
          <a:xfrm>
            <a:off x="1352550" y="2714625"/>
            <a:ext cx="3886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학교에서 안내받은 학번을 입력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153A1E-58AF-4E4D-848A-D5860AA76507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B7BD77-6297-4310-AECC-EEEA74BE8CE5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CE15CD-D43C-443B-B2F1-89143F77205B}"/>
              </a:ext>
            </a:extLst>
          </p:cNvPr>
          <p:cNvSpPr>
            <a:spLocks noGrp="1"/>
          </p:cNvSpPr>
          <p:nvPr/>
        </p:nvSpPr>
        <p:spPr>
          <a:xfrm>
            <a:off x="1352550" y="35242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6E6674-61E5-4562-AFD9-4F6B14717171}"/>
              </a:ext>
            </a:extLst>
          </p:cNvPr>
          <p:cNvSpPr>
            <a:spLocks noGrp="1"/>
          </p:cNvSpPr>
          <p:nvPr/>
        </p:nvSpPr>
        <p:spPr>
          <a:xfrm>
            <a:off x="1352550" y="3857625"/>
            <a:ext cx="3886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수강생 명단에 등록된 이름과 동일하게 입력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36147D-33F9-4F59-A76A-DA2E0D994CEF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816C1B-E96C-4294-B2D7-7D613171B951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94AEDB-A794-42C7-890B-A5335F8D7020}"/>
              </a:ext>
            </a:extLst>
          </p:cNvPr>
          <p:cNvSpPr>
            <a:spLocks noGrp="1"/>
          </p:cNvSpPr>
          <p:nvPr/>
        </p:nvSpPr>
        <p:spPr>
          <a:xfrm>
            <a:off x="1352550" y="46672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생년월일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528EBC-B469-472E-9FD3-780497C26AE4}"/>
              </a:ext>
            </a:extLst>
          </p:cNvPr>
          <p:cNvSpPr>
            <a:spLocks noGrp="1"/>
          </p:cNvSpPr>
          <p:nvPr/>
        </p:nvSpPr>
        <p:spPr>
          <a:xfrm>
            <a:off x="1352550" y="5000625"/>
            <a:ext cx="3886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2000년 12월 13일은 001213으로 입력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1DA4344-F2EE-44A9-AFBA-99B1B6BA0186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4095750" cy="3333750"/>
          </a:xfrm>
          <a:prstGeom prst="roundRect">
            <a:avLst>
              <a:gd name="adj" fmla="val 2286"/>
            </a:avLst>
          </a:prstGeom>
          <a:solidFill>
            <a:srgbClr val="F6F8F6"/>
          </a:solidFill>
          <a:ln w="9525">
            <a:solidFill>
              <a:srgbClr val="D8E0DB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F483DD-8935-4AA0-9C23-2D22BC288AE0}"/>
              </a:ext>
            </a:extLst>
          </p:cNvPr>
          <p:cNvSpPr>
            <a:spLocks noGrp="1"/>
          </p:cNvSpPr>
          <p:nvPr/>
        </p:nvSpPr>
        <p:spPr>
          <a:xfrm>
            <a:off x="6896100" y="2647950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로그인 입력 예시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738297-68FD-4D55-9FBD-9690374F3141}"/>
              </a:ext>
            </a:extLst>
          </p:cNvPr>
          <p:cNvSpPr>
            <a:spLocks noGrp="1"/>
          </p:cNvSpPr>
          <p:nvPr/>
        </p:nvSpPr>
        <p:spPr>
          <a:xfrm>
            <a:off x="6896100" y="3209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학번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4919FF5-5895-4CD6-97A2-F2C8C65E84F0}"/>
              </a:ext>
            </a:extLst>
          </p:cNvPr>
          <p:cNvSpPr>
            <a:spLocks noGrp="1"/>
          </p:cNvSpPr>
          <p:nvPr/>
        </p:nvSpPr>
        <p:spPr>
          <a:xfrm>
            <a:off x="6896100" y="3505200"/>
            <a:ext cx="3238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FD3FCE-C2B6-43B4-9511-024EA2C22970}"/>
              </a:ext>
            </a:extLst>
          </p:cNvPr>
          <p:cNvSpPr>
            <a:spLocks noGrp="1"/>
          </p:cNvSpPr>
          <p:nvPr/>
        </p:nvSpPr>
        <p:spPr>
          <a:xfrm>
            <a:off x="7048500" y="35909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202540228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DF6533-E4AE-4BFE-AB26-177ADEFAEBB3}"/>
              </a:ext>
            </a:extLst>
          </p:cNvPr>
          <p:cNvSpPr>
            <a:spLocks noGrp="1"/>
          </p:cNvSpPr>
          <p:nvPr/>
        </p:nvSpPr>
        <p:spPr>
          <a:xfrm>
            <a:off x="6896100" y="40957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D2313B0-6E71-4470-8FBD-A4B0F6E6E813}"/>
              </a:ext>
            </a:extLst>
          </p:cNvPr>
          <p:cNvSpPr>
            <a:spLocks noGrp="1"/>
          </p:cNvSpPr>
          <p:nvPr/>
        </p:nvSpPr>
        <p:spPr>
          <a:xfrm>
            <a:off x="6896100" y="4391025"/>
            <a:ext cx="3238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43F740-9E1F-4A8A-A36E-2FDB88EAFAB0}"/>
              </a:ext>
            </a:extLst>
          </p:cNvPr>
          <p:cNvSpPr>
            <a:spLocks noGrp="1"/>
          </p:cNvSpPr>
          <p:nvPr/>
        </p:nvSpPr>
        <p:spPr>
          <a:xfrm>
            <a:off x="7048500" y="44767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홍길동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A35A689-CC36-4353-A0EF-DF8C7F0008D9}"/>
              </a:ext>
            </a:extLst>
          </p:cNvPr>
          <p:cNvSpPr>
            <a:spLocks noGrp="1"/>
          </p:cNvSpPr>
          <p:nvPr/>
        </p:nvSpPr>
        <p:spPr>
          <a:xfrm>
            <a:off x="6896100" y="498157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생년월일 6자리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9599553-1F70-4578-BAEC-1E1EE0341CD4}"/>
              </a:ext>
            </a:extLst>
          </p:cNvPr>
          <p:cNvSpPr>
            <a:spLocks noGrp="1"/>
          </p:cNvSpPr>
          <p:nvPr/>
        </p:nvSpPr>
        <p:spPr>
          <a:xfrm>
            <a:off x="8448675" y="4914900"/>
            <a:ext cx="168592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507D5F-CC6D-48D6-9AAD-59957E9134D5}"/>
              </a:ext>
            </a:extLst>
          </p:cNvPr>
          <p:cNvSpPr>
            <a:spLocks noGrp="1"/>
          </p:cNvSpPr>
          <p:nvPr/>
        </p:nvSpPr>
        <p:spPr>
          <a:xfrm>
            <a:off x="8620125" y="50006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001213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D63FDD-DF73-40A8-9DF2-C041FDF4C0B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1A8DC9-9F08-41D1-95FB-5A4D0D91770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73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2805F6-944A-4EC1-9E32-CB71A1BF500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E3E1F6-8F95-48EE-8E50-FD1F7C22C0A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나의 강의실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8989FA-2EB8-4818-81AE-DF4710336472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강의는 1강부터 8강까지 순서대로 수강합니다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E8E038-BA9B-429B-88D9-D952398A1FB3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905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2C9353F-CD9A-48C6-BE64-AC790DDDD8C3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69056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869DB-6441-4ADC-BF77-42F7552E1E38}"/>
              </a:ext>
            </a:extLst>
          </p:cNvPr>
          <p:cNvSpPr>
            <a:spLocks noGrp="1"/>
          </p:cNvSpPr>
          <p:nvPr/>
        </p:nvSpPr>
        <p:spPr>
          <a:xfrm>
            <a:off x="1009650" y="24288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 algn="l">
              <a:def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1강  건강과 인체의 이해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80B2C8-4A94-4145-9BC9-B7B7C435A712}"/>
              </a:ext>
            </a:extLst>
          </p:cNvPr>
          <p:cNvSpPr>
            <a:spLocks noGrp="1"/>
          </p:cNvSpPr>
          <p:nvPr/>
        </p:nvSpPr>
        <p:spPr>
          <a:xfrm>
            <a:off x="1009650" y="27146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수강률 65%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DB88E9-9D1E-4211-B54F-05B711BE4B21}"/>
              </a:ext>
            </a:extLst>
          </p:cNvPr>
          <p:cNvSpPr>
            <a:spLocks noGrp="1"/>
          </p:cNvSpPr>
          <p:nvPr/>
        </p:nvSpPr>
        <p:spPr>
          <a:xfrm>
            <a:off x="6229350" y="2486025"/>
            <a:ext cx="1190625" cy="361950"/>
          </a:xfrm>
          <a:prstGeom prst="roundRect">
            <a:avLst>
              <a:gd name="adj" fmla="val 21053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3EB6BF-5912-4831-A5D0-143F6AF4830B}"/>
              </a:ext>
            </a:extLst>
          </p:cNvPr>
          <p:cNvSpPr>
            <a:spLocks noGrp="1"/>
          </p:cNvSpPr>
          <p:nvPr/>
        </p:nvSpPr>
        <p:spPr>
          <a:xfrm>
            <a:off x="6229350" y="2486025"/>
            <a:ext cx="1190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수강하기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7CE6A9F-28FC-466B-874C-3B9BD32D434D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69056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38D1D0-55BE-4CFA-A098-329AEBBDC7FF}"/>
              </a:ext>
            </a:extLst>
          </p:cNvPr>
          <p:cNvSpPr>
            <a:spLocks noGrp="1"/>
          </p:cNvSpPr>
          <p:nvPr/>
        </p:nvSpPr>
        <p:spPr>
          <a:xfrm>
            <a:off x="1009650" y="33432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 algn="l">
              <a:def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2강  복지용구 제도 개요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089E1D-B159-460E-822D-C75C64E7655C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수강률 0%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656545A-BD32-4CE0-9055-BA254D97F987}"/>
              </a:ext>
            </a:extLst>
          </p:cNvPr>
          <p:cNvSpPr>
            <a:spLocks noGrp="1"/>
          </p:cNvSpPr>
          <p:nvPr/>
        </p:nvSpPr>
        <p:spPr>
          <a:xfrm>
            <a:off x="6229350" y="3400425"/>
            <a:ext cx="1190625" cy="361950"/>
          </a:xfrm>
          <a:prstGeom prst="roundRect">
            <a:avLst>
              <a:gd name="adj" fmla="val 21053"/>
            </a:avLst>
          </a:prstGeom>
          <a:solidFill>
            <a:srgbClr val="94A59E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E30BC5-0970-4FC4-BA26-5547DB15B9C4}"/>
              </a:ext>
            </a:extLst>
          </p:cNvPr>
          <p:cNvSpPr>
            <a:spLocks noGrp="1"/>
          </p:cNvSpPr>
          <p:nvPr/>
        </p:nvSpPr>
        <p:spPr>
          <a:xfrm>
            <a:off x="6229350" y="3400425"/>
            <a:ext cx="1190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수강하기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DD53132-4E7F-4E46-8E14-8307A9DEA588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69056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56D87F-1922-4B51-86A3-70205815C57D}"/>
              </a:ext>
            </a:extLst>
          </p:cNvPr>
          <p:cNvSpPr>
            <a:spLocks noGrp="1"/>
          </p:cNvSpPr>
          <p:nvPr/>
        </p:nvSpPr>
        <p:spPr>
          <a:xfrm>
            <a:off x="1009650" y="42576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 algn="l">
              <a:def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3강  이동과 이승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DC8B3C-D040-4D56-82F3-7D86B16C803E}"/>
              </a:ext>
            </a:extLst>
          </p:cNvPr>
          <p:cNvSpPr>
            <a:spLocks noGrp="1"/>
          </p:cNvSpPr>
          <p:nvPr/>
        </p:nvSpPr>
        <p:spPr>
          <a:xfrm>
            <a:off x="1009650" y="45434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수강률 0%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5683B71-4579-4D2D-A183-625CC195DAD5}"/>
              </a:ext>
            </a:extLst>
          </p:cNvPr>
          <p:cNvSpPr>
            <a:spLocks noGrp="1"/>
          </p:cNvSpPr>
          <p:nvPr/>
        </p:nvSpPr>
        <p:spPr>
          <a:xfrm>
            <a:off x="6229350" y="4314825"/>
            <a:ext cx="1190625" cy="361950"/>
          </a:xfrm>
          <a:prstGeom prst="roundRect">
            <a:avLst>
              <a:gd name="adj" fmla="val 21053"/>
            </a:avLst>
          </a:prstGeom>
          <a:solidFill>
            <a:srgbClr val="94A59E"/>
          </a:solidFill>
          <a:ln w="0">
            <a:noFill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40E71A-45CB-442E-9F07-48F1BF054355}"/>
              </a:ext>
            </a:extLst>
          </p:cNvPr>
          <p:cNvSpPr>
            <a:spLocks noGrp="1"/>
          </p:cNvSpPr>
          <p:nvPr/>
        </p:nvSpPr>
        <p:spPr>
          <a:xfrm>
            <a:off x="6229350" y="4314825"/>
            <a:ext cx="1190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수강하기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7F8793B-43B3-4A6B-92FB-B0D880A1B56E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69056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E0DB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12FB44-DF86-4743-8055-06035B39D751}"/>
              </a:ext>
            </a:extLst>
          </p:cNvPr>
          <p:cNvSpPr>
            <a:spLocks noGrp="1"/>
          </p:cNvSpPr>
          <p:nvPr/>
        </p:nvSpPr>
        <p:spPr>
          <a:xfrm>
            <a:off x="1009650" y="51720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 algn="l">
              <a:def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4강  기거, 입욕 및 배설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0F0DD7-C71F-44C3-8861-209447264AC5}"/>
              </a:ext>
            </a:extLst>
          </p:cNvPr>
          <p:cNvSpPr>
            <a:spLocks noGrp="1"/>
          </p:cNvSpPr>
          <p:nvPr/>
        </p:nvSpPr>
        <p:spPr>
          <a:xfrm>
            <a:off x="1009650" y="5457825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수강률 0%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37F2B9-7CB5-4356-ADD1-E4DB0C9AB343}"/>
              </a:ext>
            </a:extLst>
          </p:cNvPr>
          <p:cNvSpPr>
            <a:spLocks noGrp="1"/>
          </p:cNvSpPr>
          <p:nvPr/>
        </p:nvSpPr>
        <p:spPr>
          <a:xfrm>
            <a:off x="6229350" y="5229225"/>
            <a:ext cx="1190625" cy="361950"/>
          </a:xfrm>
          <a:prstGeom prst="roundRect">
            <a:avLst>
              <a:gd name="adj" fmla="val 21053"/>
            </a:avLst>
          </a:prstGeom>
          <a:solidFill>
            <a:srgbClr val="94A59E"/>
          </a:solidFill>
          <a:ln w="0"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373C98-2942-46BA-900A-CB79FA5070D4}"/>
              </a:ext>
            </a:extLst>
          </p:cNvPr>
          <p:cNvSpPr>
            <a:spLocks noGrp="1"/>
          </p:cNvSpPr>
          <p:nvPr/>
        </p:nvSpPr>
        <p:spPr>
          <a:xfrm>
            <a:off x="6229350" y="5229225"/>
            <a:ext cx="1190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수강하기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84131A-98DC-4A56-988B-DA92423817BF}"/>
              </a:ext>
            </a:extLst>
          </p:cNvPr>
          <p:cNvSpPr>
            <a:spLocks noGrp="1"/>
          </p:cNvSpPr>
          <p:nvPr/>
        </p:nvSpPr>
        <p:spPr>
          <a:xfrm>
            <a:off x="8382000" y="24003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확인 사항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FB1D4C-2384-4478-9331-9891832BEDE5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2762250" cy="2381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강의 공개일 전에는</a:t>
            </a:r>
          </a:p>
          <a:p>
            <a:pPr algn="l">
              <a:def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버튼에 공개 예정일이 표시됩니다.</a:t>
            </a:r>
          </a:p>
          <a:p>
            <a:endParaRPr sz="1350" b="0">
              <a:solidFill>
                <a:srgbClr val="10251E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수강률 100% 이후</a:t>
            </a:r>
          </a:p>
          <a:p>
            <a:pPr algn="l">
              <a:def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복습하기가 활성화됩니다.</a:t>
            </a:r>
          </a:p>
          <a:p>
            <a:pPr algn="l">
              <a:def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복습 시간은 진도율에 포함되지 않습니다.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E6A5F6-15E1-4963-8766-AA2259DF4BB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7E26523-2F9D-4901-A8A2-7354B3CE1E6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120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FE0B79-4ED8-4550-B3B4-F48A7247EEA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72D651-A1BD-4085-BE9B-42E8FA18F12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강의 영상 수강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B1CC32-44DA-4649-933F-4DB84E78F713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정속 재생한 시간만 진도율에 반영됩니다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C9FD37-F9C2-469B-965D-F95E7DA0F85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905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CCBA5C4-B1AE-4E3B-8B6E-D6C5475D218A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6572250" cy="3352800"/>
          </a:xfrm>
          <a:prstGeom prst="roundRect">
            <a:avLst>
              <a:gd name="adj" fmla="val 2273"/>
            </a:avLst>
          </a:prstGeom>
          <a:solidFill>
            <a:srgbClr val="15221D"/>
          </a:solidFill>
          <a:ln w="0">
            <a:noFill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C71FBE-B1EC-4C12-B109-6785726286B7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5924550" cy="2247900"/>
          </a:xfrm>
          <a:prstGeom prst="roundRect">
            <a:avLst>
              <a:gd name="adj" fmla="val 3390"/>
            </a:avLst>
          </a:prstGeom>
          <a:solidFill>
            <a:srgbClr val="E7EFEA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5E31FE-BE06-42EB-8AF5-886A9B27B98F}"/>
              </a:ext>
            </a:extLst>
          </p:cNvPr>
          <p:cNvSpPr>
            <a:spLocks noGrp="1"/>
          </p:cNvSpPr>
          <p:nvPr/>
        </p:nvSpPr>
        <p:spPr>
          <a:xfrm>
            <a:off x="1066800" y="3314700"/>
            <a:ext cx="59245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강의 영상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17D5F61-DF19-4CE0-B124-E34A9ADE5FA9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5924550" cy="76200"/>
          </a:xfrm>
          <a:prstGeom prst="roundRect">
            <a:avLst>
              <a:gd name="adj" fmla="val 50000"/>
            </a:avLst>
          </a:prstGeom>
          <a:solidFill>
            <a:srgbClr val="667A71"/>
          </a:solidFill>
          <a:ln w="0">
            <a:noFill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7AF03F-1D44-45EB-8263-B0F5651E8F48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3619500" cy="76200"/>
          </a:xfrm>
          <a:prstGeom prst="roundRect">
            <a:avLst>
              <a:gd name="adj" fmla="val 50000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412E0D-8888-4292-B66F-D906F3AE6332}"/>
              </a:ext>
            </a:extLst>
          </p:cNvPr>
          <p:cNvSpPr>
            <a:spLocks noGrp="1"/>
          </p:cNvSpPr>
          <p:nvPr/>
        </p:nvSpPr>
        <p:spPr>
          <a:xfrm>
            <a:off x="1066800" y="5314950"/>
            <a:ext cx="5924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889"/>
          </a:bodyPr>
          <a:lstStyle/>
          <a:p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▶  39:12 / 65:09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4A392C-9A43-492D-B1FB-F035D95069CC}"/>
              </a:ext>
            </a:extLst>
          </p:cNvPr>
          <p:cNvSpPr>
            <a:spLocks noGrp="1"/>
          </p:cNvSpPr>
          <p:nvPr/>
        </p:nvSpPr>
        <p:spPr>
          <a:xfrm>
            <a:off x="7858125" y="2343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890C2A-AB08-4711-9A3B-8FF5B109BB7B}"/>
              </a:ext>
            </a:extLst>
          </p:cNvPr>
          <p:cNvSpPr>
            <a:spLocks noGrp="1"/>
          </p:cNvSpPr>
          <p:nvPr/>
        </p:nvSpPr>
        <p:spPr>
          <a:xfrm>
            <a:off x="7858125" y="23431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168606-1C08-4EEE-8173-57007360F127}"/>
              </a:ext>
            </a:extLst>
          </p:cNvPr>
          <p:cNvSpPr>
            <a:spLocks noGrp="1"/>
          </p:cNvSpPr>
          <p:nvPr/>
        </p:nvSpPr>
        <p:spPr>
          <a:xfrm>
            <a:off x="8448675" y="2324100"/>
            <a:ext cx="2838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이어보기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85B9AD-2253-4875-801C-13CC15A4C40B}"/>
              </a:ext>
            </a:extLst>
          </p:cNvPr>
          <p:cNvSpPr>
            <a:spLocks noGrp="1"/>
          </p:cNvSpPr>
          <p:nvPr/>
        </p:nvSpPr>
        <p:spPr>
          <a:xfrm>
            <a:off x="8448675" y="26574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수강하기를 누르면 마지막 학습 위치부터 재생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E4C45B-7020-4FFC-8905-FA1FF3AEC451}"/>
              </a:ext>
            </a:extLst>
          </p:cNvPr>
          <p:cNvSpPr>
            <a:spLocks noGrp="1"/>
          </p:cNvSpPr>
          <p:nvPr/>
        </p:nvSpPr>
        <p:spPr>
          <a:xfrm>
            <a:off x="7858125" y="3524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2A257C-7D0B-44CC-8F62-25179E718101}"/>
              </a:ext>
            </a:extLst>
          </p:cNvPr>
          <p:cNvSpPr>
            <a:spLocks noGrp="1"/>
          </p:cNvSpPr>
          <p:nvPr/>
        </p:nvSpPr>
        <p:spPr>
          <a:xfrm>
            <a:off x="7858125" y="3524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D3CEAF-D7D6-4762-9D57-225B40EDDBC2}"/>
              </a:ext>
            </a:extLst>
          </p:cNvPr>
          <p:cNvSpPr>
            <a:spLocks noGrp="1"/>
          </p:cNvSpPr>
          <p:nvPr/>
        </p:nvSpPr>
        <p:spPr>
          <a:xfrm>
            <a:off x="8448675" y="3505200"/>
            <a:ext cx="2838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정속 시청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BDA31A-E379-4B57-88DB-EC5E2704C3FB}"/>
              </a:ext>
            </a:extLst>
          </p:cNvPr>
          <p:cNvSpPr>
            <a:spLocks noGrp="1"/>
          </p:cNvSpPr>
          <p:nvPr/>
        </p:nvSpPr>
        <p:spPr>
          <a:xfrm>
            <a:off x="8448675" y="38385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일시정지</a:t>
            </a:r>
            <a:r>
              <a:rPr lang="en-US" altLang="ko-KR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가능</a:t>
            </a:r>
            <a:endParaRPr lang="en-US" altLang="ko-KR" sz="1200" b="0" dirty="0">
              <a:solidFill>
                <a:srgbClr val="5E6D6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건너뛰기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빠른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재생</a:t>
            </a:r>
            <a:r>
              <a:rPr lang="en-US" altLang="ko-KR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불가</a:t>
            </a:r>
            <a:endParaRPr sz="1200" b="0" dirty="0">
              <a:solidFill>
                <a:srgbClr val="5E6D6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B4FAE9F-519C-4D02-A734-D8003CC927ED}"/>
              </a:ext>
            </a:extLst>
          </p:cNvPr>
          <p:cNvSpPr>
            <a:spLocks noGrp="1"/>
          </p:cNvSpPr>
          <p:nvPr/>
        </p:nvSpPr>
        <p:spPr>
          <a:xfrm>
            <a:off x="7858125" y="4705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4916AE-64BF-4987-A0BA-DF44D0AB938F}"/>
              </a:ext>
            </a:extLst>
          </p:cNvPr>
          <p:cNvSpPr>
            <a:spLocks noGrp="1"/>
          </p:cNvSpPr>
          <p:nvPr/>
        </p:nvSpPr>
        <p:spPr>
          <a:xfrm>
            <a:off x="7858125" y="47053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394F52-6FFF-41CF-927E-1BC011B38EDA}"/>
              </a:ext>
            </a:extLst>
          </p:cNvPr>
          <p:cNvSpPr>
            <a:spLocks noGrp="1"/>
          </p:cNvSpPr>
          <p:nvPr/>
        </p:nvSpPr>
        <p:spPr>
          <a:xfrm>
            <a:off x="8448675" y="4686300"/>
            <a:ext cx="2838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페이지 유지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989EFD-A84D-45F7-9C9D-04131D4C744E}"/>
              </a:ext>
            </a:extLst>
          </p:cNvPr>
          <p:cNvSpPr>
            <a:spLocks noGrp="1"/>
          </p:cNvSpPr>
          <p:nvPr/>
        </p:nvSpPr>
        <p:spPr>
          <a:xfrm>
            <a:off x="8448675" y="50196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탭으로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이동하면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영상이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자동으로</a:t>
            </a:r>
            <a:r>
              <a:rPr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멈춤</a:t>
            </a:r>
            <a:r>
              <a:rPr lang="en-US" altLang="ko-KR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(</a:t>
            </a:r>
            <a:r>
              <a:rPr lang="ko-KR" altLang="en-US" sz="1200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진도율</a:t>
            </a:r>
            <a:r>
              <a:rPr lang="ko-KR" altLang="en-US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측정 </a:t>
            </a:r>
            <a:r>
              <a:rPr lang="en-US" altLang="ko-KR" sz="1200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X)</a:t>
            </a:r>
            <a:endParaRPr sz="1200" b="0" dirty="0">
              <a:solidFill>
                <a:srgbClr val="5E6D6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9487F2-5C31-4EE6-850F-EEAE5754D39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F4E0E1-868E-4AF3-91BC-CC25ABF9926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20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E975D6-43B4-4CAE-913E-FE98F9F0B91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8844E9-03C4-4689-802F-D5F4AE46E5E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시험 응시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663ED8-C082-4EAE-A2AD-B9AACA6FC0C6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8개 강의의 수강률이 모두 100%가 되면 시험 버튼이 활성화됩니다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85E2F6-0B9D-4DC7-9D5D-5FC76C7DC45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905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894A637-E85A-461A-9FDB-ED30E90AC765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095750" cy="2857500"/>
          </a:xfrm>
          <a:prstGeom prst="roundRect">
            <a:avLst>
              <a:gd name="adj" fmla="val 2667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2F8A89-5B78-4434-9663-5F78AE9E41B5}"/>
              </a:ext>
            </a:extLst>
          </p:cNvPr>
          <p:cNvSpPr>
            <a:spLocks noGrp="1"/>
          </p:cNvSpPr>
          <p:nvPr/>
        </p:nvSpPr>
        <p:spPr>
          <a:xfrm>
            <a:off x="1123950" y="2647950"/>
            <a:ext cx="3524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60:00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5AF60F-8757-4028-9BEB-D8E6C7A9DDBB}"/>
              </a:ext>
            </a:extLst>
          </p:cNvPr>
          <p:cNvSpPr>
            <a:spLocks noGrp="1"/>
          </p:cNvSpPr>
          <p:nvPr/>
        </p:nvSpPr>
        <p:spPr>
          <a:xfrm>
            <a:off x="1123950" y="358140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DDEDE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DEDE6"/>
                </a:solidFill>
                <a:latin typeface="Malgun Gothic"/>
                <a:ea typeface="Malgun Gothic"/>
                <a:cs typeface="Malgun Gothic"/>
              </a:rPr>
              <a:t>시험 제한 시간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462F67-12B9-4B1A-A62C-EC534D1A53C9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시간이 끝나면</a:t>
            </a:r>
          </a:p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작성한 답안이 자동 제출됩니다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98572E8-19C9-44FB-95FD-78454B7FD34D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990E5F-6670-4176-B5BD-266A62B9B1C9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6136DB-B176-43D2-A004-02C68FA2FCE5}"/>
              </a:ext>
            </a:extLst>
          </p:cNvPr>
          <p:cNvSpPr>
            <a:spLocks noGrp="1"/>
          </p:cNvSpPr>
          <p:nvPr/>
        </p:nvSpPr>
        <p:spPr>
          <a:xfrm>
            <a:off x="6400800" y="2381250"/>
            <a:ext cx="4457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시험 시작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FEB9B6-DEDE-481C-8B29-C24CAEA4756D}"/>
              </a:ext>
            </a:extLst>
          </p:cNvPr>
          <p:cNvSpPr>
            <a:spLocks noGrp="1"/>
          </p:cNvSpPr>
          <p:nvPr/>
        </p:nvSpPr>
        <p:spPr>
          <a:xfrm>
            <a:off x="6400800" y="2714625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시험 응시 버튼을 누르면 60분 타이머가 시작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0196E6-854E-456B-8EC6-4687DAC6EC12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5484B9-5C67-43AA-AF1D-5A77B1AFF8B3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F1D3CB-9C0B-4787-A746-05D4260C6395}"/>
              </a:ext>
            </a:extLst>
          </p:cNvPr>
          <p:cNvSpPr>
            <a:spLocks noGrp="1"/>
          </p:cNvSpPr>
          <p:nvPr/>
        </p:nvSpPr>
        <p:spPr>
          <a:xfrm>
            <a:off x="6400800" y="3562350"/>
            <a:ext cx="4457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답안 작성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77E5A6-5854-4D22-A80E-EBD824326C0F}"/>
              </a:ext>
            </a:extLst>
          </p:cNvPr>
          <p:cNvSpPr>
            <a:spLocks noGrp="1"/>
          </p:cNvSpPr>
          <p:nvPr/>
        </p:nvSpPr>
        <p:spPr>
          <a:xfrm>
            <a:off x="6400800" y="3895725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시험 도중 새로고침해도 남은 시간과 답안을 유지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93F356E-710B-49AB-B99F-BC4695BD9078}"/>
              </a:ext>
            </a:extLst>
          </p:cNvPr>
          <p:cNvSpPr>
            <a:spLocks noGrp="1"/>
          </p:cNvSpPr>
          <p:nvPr/>
        </p:nvSpPr>
        <p:spPr>
          <a:xfrm>
            <a:off x="5810250" y="4762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86B55"/>
          </a:solidFill>
          <a:ln w="0">
            <a:noFill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EB8858-9F80-4CBA-8B27-FF9A1698E107}"/>
              </a:ext>
            </a:extLst>
          </p:cNvPr>
          <p:cNvSpPr>
            <a:spLocks noGrp="1"/>
          </p:cNvSpPr>
          <p:nvPr/>
        </p:nvSpPr>
        <p:spPr>
          <a:xfrm>
            <a:off x="5810250" y="4762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BA944B-DDC0-4FAE-8F47-74DCA34FC9BD}"/>
              </a:ext>
            </a:extLst>
          </p:cNvPr>
          <p:cNvSpPr>
            <a:spLocks noGrp="1"/>
          </p:cNvSpPr>
          <p:nvPr/>
        </p:nvSpPr>
        <p:spPr>
          <a:xfrm>
            <a:off x="6400800" y="4743450"/>
            <a:ext cx="4457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제출 완료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2D590A-9F96-4227-9DF3-9968D7EA3D27}"/>
              </a:ext>
            </a:extLst>
          </p:cNvPr>
          <p:cNvSpPr>
            <a:spLocks noGrp="1"/>
          </p:cNvSpPr>
          <p:nvPr/>
        </p:nvSpPr>
        <p:spPr>
          <a:xfrm>
            <a:off x="6400800" y="5076825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제출 후 결과는 관리자에게 저장되며 추후 안내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BBD240-1BEA-461D-9509-671CD5A82D2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B9DAA8-74A4-4FAF-885D-15A246042D4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096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81BC78-4F10-4F3C-89EE-B0480E19FE59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937992-F55D-4E71-BCD3-9B0191EB548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이용 중 확인 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73B413-1BBD-4DA5-BFFC-9D0F5B2DD70A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문제가 계속되면 교육 문의 번호로 연락해 주세요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560593-EB6A-4153-88FF-FC45B514918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19050"/>
          </a:xfrm>
          <a:prstGeom prst="rect">
            <a:avLst/>
          </a:prstGeom>
          <a:solidFill>
            <a:srgbClr val="286B55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E45D59-4619-47B6-83E8-2BAB3946FA09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C8D1E3-37E9-4059-98A1-2230BA6F72F8}"/>
              </a:ext>
            </a:extLst>
          </p:cNvPr>
          <p:cNvSpPr>
            <a:spLocks noGrp="1"/>
          </p:cNvSpPr>
          <p:nvPr/>
        </p:nvSpPr>
        <p:spPr>
          <a:xfrm>
            <a:off x="1524000" y="23050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로그인이 되지 않을 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82BA9C-EEE6-414D-82C8-5EA1EF045192}"/>
              </a:ext>
            </a:extLst>
          </p:cNvPr>
          <p:cNvSpPr>
            <a:spLocks noGrp="1"/>
          </p:cNvSpPr>
          <p:nvPr/>
        </p:nvSpPr>
        <p:spPr>
          <a:xfrm>
            <a:off x="4972050" y="23050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학번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이름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생년월일을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확인하고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안될경우</a:t>
            </a:r>
            <a:r>
              <a:rPr lang="ko-KR" altLang="en-US"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아래 번호로 문의합니다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79B547-65B2-4F76-B366-FCC85FFA8482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10325100" cy="9525"/>
          </a:xfrm>
          <a:prstGeom prst="rect">
            <a:avLst/>
          </a:prstGeom>
          <a:solidFill>
            <a:srgbClr val="D8E0DB"/>
          </a:solidFill>
          <a:ln w="0">
            <a:noFill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4720AD-1F93-4467-9DE5-743B3E465291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3E6391-90B6-4134-920A-F79AC591B8B7}"/>
              </a:ext>
            </a:extLst>
          </p:cNvPr>
          <p:cNvSpPr>
            <a:spLocks noGrp="1"/>
          </p:cNvSpPr>
          <p:nvPr/>
        </p:nvSpPr>
        <p:spPr>
          <a:xfrm>
            <a:off x="1524000" y="31813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영상이 재생되지 않을 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D04CC4-5654-440C-BB7A-D1F719FE248C}"/>
              </a:ext>
            </a:extLst>
          </p:cNvPr>
          <p:cNvSpPr>
            <a:spLocks noGrp="1"/>
          </p:cNvSpPr>
          <p:nvPr/>
        </p:nvSpPr>
        <p:spPr>
          <a:xfrm>
            <a:off x="4972050" y="31813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인터넷 연결을 확인한 뒤 페이지를 새로고침합니다.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6C8680-6334-4EDF-B37F-C6CD05D26595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10325100" cy="9525"/>
          </a:xfrm>
          <a:prstGeom prst="rect">
            <a:avLst/>
          </a:prstGeom>
          <a:solidFill>
            <a:srgbClr val="D8E0DB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6E70AD-A4F4-4542-B406-E37D7232C99E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79BDB9-8CBB-4AC4-8AD3-4527118D4EC5}"/>
              </a:ext>
            </a:extLst>
          </p:cNvPr>
          <p:cNvSpPr>
            <a:spLocks noGrp="1"/>
          </p:cNvSpPr>
          <p:nvPr/>
        </p:nvSpPr>
        <p:spPr>
          <a:xfrm>
            <a:off x="1524000" y="40576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진도율이 올라가지 않을 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5F1F97-27C8-44C2-B49C-EA88BF569218}"/>
              </a:ext>
            </a:extLst>
          </p:cNvPr>
          <p:cNvSpPr>
            <a:spLocks noGrp="1"/>
          </p:cNvSpPr>
          <p:nvPr/>
        </p:nvSpPr>
        <p:spPr>
          <a:xfrm>
            <a:off x="4972050" y="40576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재생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속도를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1배속으로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두고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영상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화면을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열린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상태로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시청합니다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EB2DCA-4AE0-4052-9094-0D7E2692E729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10325100" cy="9525"/>
          </a:xfrm>
          <a:prstGeom prst="rect">
            <a:avLst/>
          </a:prstGeom>
          <a:solidFill>
            <a:srgbClr val="D8E0DB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A56C36-3FAD-44D3-9676-357ABD3A1193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C1A917-F7D1-46F9-9897-D2BAD30A5266}"/>
              </a:ext>
            </a:extLst>
          </p:cNvPr>
          <p:cNvSpPr>
            <a:spLocks noGrp="1"/>
          </p:cNvSpPr>
          <p:nvPr/>
        </p:nvSpPr>
        <p:spPr>
          <a:xfrm>
            <a:off x="1524000" y="49339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51E"/>
                </a:solidFill>
                <a:latin typeface="Malgun Gothic"/>
                <a:ea typeface="Malgun Gothic"/>
                <a:cs typeface="Malgun Gothic"/>
              </a:rPr>
              <a:t>수강 중 자리를 비울 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BA2577-38C4-46B8-A18C-7349F70E0A1F}"/>
              </a:ext>
            </a:extLst>
          </p:cNvPr>
          <p:cNvSpPr>
            <a:spLocks noGrp="1"/>
          </p:cNvSpPr>
          <p:nvPr/>
        </p:nvSpPr>
        <p:spPr>
          <a:xfrm>
            <a:off x="4972050" y="49339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영상을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일시정지합니다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수강하기를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누르면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이어볼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275" b="0" dirty="0" err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있습니다</a:t>
            </a:r>
            <a:r>
              <a:rPr sz="1275" b="0" dirty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6F4C38E-3129-474A-8035-868A89DBECC0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10325100" cy="457200"/>
          </a:xfrm>
          <a:prstGeom prst="roundRect">
            <a:avLst>
              <a:gd name="adj" fmla="val 16667"/>
            </a:avLst>
          </a:prstGeom>
          <a:solidFill>
            <a:srgbClr val="DDEDE6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6D582FB-DC3E-4594-B19C-9966444CE976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10325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86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문의</a:t>
            </a:r>
            <a:r>
              <a:rPr sz="1500" b="1" dirty="0">
                <a:solidFill>
                  <a:srgbClr val="286B55"/>
                </a:solidFill>
                <a:latin typeface="Malgun Gothic"/>
                <a:ea typeface="Malgun Gothic"/>
                <a:cs typeface="Malgun Gothic"/>
              </a:rPr>
              <a:t>  055-320-3799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DA9A48-BDCF-4DEE-96AA-F2BAEB4265C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복지용구 상담사 온라인 교육원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9EA378-CF8C-4C69-ABC0-D33997DD947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r">
              <a:def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E6D67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2975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DocSecurity>0</DocSecurity>
  <PresentationFormat>와이드스크린</PresentationFormat>
  <Paragraphs>108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2026-09-11T10:57:28Z</dcterms:created>
  <dcterms:modified xsi:type="dcterms:W3CDTF">2026-09-11T12:04:56Z</dcterms:modified>
</cp:coreProperties>
</file>